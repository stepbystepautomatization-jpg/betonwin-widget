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Segmenti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A623"/>
              </a:solidFill>
              <a:effectLst/>
            </c:spPr>
          </c:dPt>
          <c:dPt>
            <c:idx val="1"/>
            <c:bubble3D val="0"/>
            <c:spPr>
              <a:solidFill>
                <a:srgbClr val="0ABFBC"/>
              </a:solidFill>
              <a:effectLst/>
            </c:spPr>
          </c:dPt>
          <c:dPt>
            <c:idx val="2"/>
            <c:bubble3D val="0"/>
            <c:spPr>
              <a:solidFill>
                <a:srgbClr val="8E44AD"/>
              </a:solidFill>
              <a:effectLst/>
            </c:spPr>
          </c:dPt>
          <c:dPt>
            <c:idx val="3"/>
            <c:bubble3D val="0"/>
            <c:spPr>
              <a:solidFill>
                <a:srgbClr val="3498DB"/>
              </a:solidFill>
              <a:effectLst/>
            </c:spPr>
          </c:dPt>
          <c:dPt>
            <c:idx val="4"/>
            <c:bubble3D val="0"/>
            <c:spPr>
              <a:solidFill>
                <a:srgbClr val="27AE60"/>
              </a:solidFill>
              <a:effectLst/>
            </c:spPr>
          </c:dPt>
          <c:dPt>
            <c:idx val="5"/>
            <c:bubble3D val="0"/>
            <c:spPr>
              <a:solidFill>
                <a:srgbClr val="F39C12"/>
              </a:solidFill>
              <a:effectLst/>
            </c:spPr>
          </c:dPt>
          <c:dPt>
            <c:idx val="6"/>
            <c:bubble3D val="0"/>
            <c:spPr>
              <a:solidFill>
                <a:srgbClr val="E74C3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A1F36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A1F36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A1F36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A1F36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A1F36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A1F36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A1F36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1 ticket</c:v>
                </c:pt>
                <c:pt idx="1">
                  <c:v>2-3 ticket</c:v>
                </c:pt>
                <c:pt idx="2">
                  <c:v>4-5 ticket</c:v>
                </c:pt>
                <c:pt idx="3">
                  <c:v>6-10 ticket</c:v>
                </c:pt>
                <c:pt idx="4">
                  <c:v>11-20 ticket</c:v>
                </c:pt>
                <c:pt idx="5">
                  <c:v>21-50 ticket</c:v>
                </c:pt>
                <c:pt idx="6">
                  <c:v>50+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63648</c:v>
                </c:pt>
                <c:pt idx="1">
                  <c:v>30042</c:v>
                </c:pt>
                <c:pt idx="2">
                  <c:v>8577</c:v>
                </c:pt>
                <c:pt idx="3">
                  <c:v>5404</c:v>
                </c:pt>
                <c:pt idx="4">
                  <c:v>1475</c:v>
                </c:pt>
                <c:pt idx="5">
                  <c:v>317</c:v>
                </c:pt>
                <c:pt idx="6">
                  <c:v>12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A617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Nuovi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Oct 25</c:v>
                  </c:pt>
                  <c:pt idx="1">
                    <c:v>Nov 25</c:v>
                  </c:pt>
                  <c:pt idx="2">
                    <c:v>Dec 25</c:v>
                  </c:pt>
                  <c:pt idx="3">
                    <c:v>Jan 26</c:v>
                  </c:pt>
                  <c:pt idx="4">
                    <c:v>Feb 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4666</c:v>
                </c:pt>
                <c:pt idx="1">
                  <c:v>11948</c:v>
                </c:pt>
                <c:pt idx="2">
                  <c:v>17377</c:v>
                </c:pt>
                <c:pt idx="3">
                  <c:v>30572</c:v>
                </c:pt>
                <c:pt idx="4">
                  <c:v>44912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Ricorrenti</c:v>
                </c:pt>
              </c:strCache>
            </c:strRef>
          </c:tx>
          <c:spPr>
            <a:solidFill>
              <a:srgbClr val="0ABFB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Oct 25</c:v>
                  </c:pt>
                  <c:pt idx="1">
                    <c:v>Nov 25</c:v>
                  </c:pt>
                  <c:pt idx="2">
                    <c:v>Dec 25</c:v>
                  </c:pt>
                  <c:pt idx="3">
                    <c:v>Jan 26</c:v>
                  </c:pt>
                  <c:pt idx="4">
                    <c:v>Feb 26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541</c:v>
                </c:pt>
                <c:pt idx="2">
                  <c:v>1742</c:v>
                </c:pt>
                <c:pt idx="3">
                  <c:v>2260</c:v>
                </c:pt>
                <c:pt idx="4">
                  <c:v>3824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1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5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1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A617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Ticket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ABFB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2E5F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2E5F1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2E5F1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E2E5F1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E2E5F1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E2E5F1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E2E5F1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0ABFBC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0ABFBC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0ABFBC"/>
              </a:solidFill>
              <a:effectLst/>
            </c:spPr>
          </c:dPt>
          <c:dPt>
            <c:idx val="15"/>
            <c:invertIfNegative val="0"/>
            <c:bubble3D val="0"/>
            <c:spPr>
              <a:solidFill>
                <a:srgbClr val="0ABFBC"/>
              </a:solidFill>
              <a:effectLst/>
            </c:spPr>
          </c:dPt>
          <c:dPt>
            <c:idx val="16"/>
            <c:invertIfNegative val="0"/>
            <c:bubble3D val="0"/>
            <c:spPr>
              <a:solidFill>
                <a:srgbClr val="0ABFBC"/>
              </a:solidFill>
              <a:effectLst/>
            </c:spPr>
          </c:dPt>
          <c:dPt>
            <c:idx val="17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18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19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20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21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22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23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cat>
            <c:multiLvlStrRef>
              <c:f>Sheet1!$A$2:$A$25</c:f>
              <c:multiLvlStrCache>
                <c:ptCount val="24"/>
                <c:lvl>
                  <c:pt idx="0">
                    <c:v>0h</c:v>
                  </c:pt>
                  <c:pt idx="1">
                    <c:v>1h</c:v>
                  </c:pt>
                  <c:pt idx="2">
                    <c:v>2h</c:v>
                  </c:pt>
                  <c:pt idx="3">
                    <c:v>3h</c:v>
                  </c:pt>
                  <c:pt idx="4">
                    <c:v>4h</c:v>
                  </c:pt>
                  <c:pt idx="5">
                    <c:v>5h</c:v>
                  </c:pt>
                  <c:pt idx="6">
                    <c:v>6h</c:v>
                  </c:pt>
                  <c:pt idx="7">
                    <c:v>7h</c:v>
                  </c:pt>
                  <c:pt idx="8">
                    <c:v>8h</c:v>
                  </c:pt>
                  <c:pt idx="9">
                    <c:v>9h</c:v>
                  </c:pt>
                  <c:pt idx="10">
                    <c:v>10h</c:v>
                  </c:pt>
                  <c:pt idx="11">
                    <c:v>11h</c:v>
                  </c:pt>
                  <c:pt idx="12">
                    <c:v>12h</c:v>
                  </c:pt>
                  <c:pt idx="13">
                    <c:v>13h</c:v>
                  </c:pt>
                  <c:pt idx="14">
                    <c:v>14h</c:v>
                  </c:pt>
                  <c:pt idx="15">
                    <c:v>15h</c:v>
                  </c:pt>
                  <c:pt idx="16">
                    <c:v>16h</c:v>
                  </c:pt>
                  <c:pt idx="17">
                    <c:v>17h</c:v>
                  </c:pt>
                  <c:pt idx="18">
                    <c:v>18h</c:v>
                  </c:pt>
                  <c:pt idx="19">
                    <c:v>19h</c:v>
                  </c:pt>
                  <c:pt idx="20">
                    <c:v>20h</c:v>
                  </c:pt>
                  <c:pt idx="21">
                    <c:v>21h</c:v>
                  </c:pt>
                  <c:pt idx="22">
                    <c:v>22h</c:v>
                  </c:pt>
                  <c:pt idx="23">
                    <c:v>23h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12540</c:v>
                </c:pt>
                <c:pt idx="1">
                  <c:v>12728</c:v>
                </c:pt>
                <c:pt idx="2">
                  <c:v>13498</c:v>
                </c:pt>
                <c:pt idx="3">
                  <c:v>12874</c:v>
                </c:pt>
                <c:pt idx="4">
                  <c:v>10275</c:v>
                </c:pt>
                <c:pt idx="5">
                  <c:v>7524</c:v>
                </c:pt>
                <c:pt idx="6">
                  <c:v>5295</c:v>
                </c:pt>
                <c:pt idx="7">
                  <c:v>3822</c:v>
                </c:pt>
                <c:pt idx="8">
                  <c:v>3343</c:v>
                </c:pt>
                <c:pt idx="9">
                  <c:v>3610</c:v>
                </c:pt>
                <c:pt idx="10">
                  <c:v>5085</c:v>
                </c:pt>
                <c:pt idx="11">
                  <c:v>7256</c:v>
                </c:pt>
                <c:pt idx="12">
                  <c:v>8647</c:v>
                </c:pt>
                <c:pt idx="13">
                  <c:v>9910</c:v>
                </c:pt>
                <c:pt idx="14">
                  <c:v>10269</c:v>
                </c:pt>
                <c:pt idx="15">
                  <c:v>10891</c:v>
                </c:pt>
                <c:pt idx="16">
                  <c:v>11438</c:v>
                </c:pt>
                <c:pt idx="17">
                  <c:v>12698</c:v>
                </c:pt>
                <c:pt idx="18">
                  <c:v>13748</c:v>
                </c:pt>
                <c:pt idx="19">
                  <c:v>14025</c:v>
                </c:pt>
                <c:pt idx="20">
                  <c:v>13291</c:v>
                </c:pt>
                <c:pt idx="21">
                  <c:v>12864</c:v>
                </c:pt>
                <c:pt idx="22">
                  <c:v>12572</c:v>
                </c:pt>
                <c:pt idx="23">
                  <c:v>12245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A61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2E5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Ticket</c:v>
                </c:pt>
              </c:strCache>
            </c:strRef>
          </c:tx>
          <c:spPr>
            <a:solidFill>
              <a:srgbClr val="0ABFB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F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ABFB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ABFB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ABFB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ABFB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ABFBC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Lun</c:v>
                  </c:pt>
                  <c:pt idx="1">
                    <c:v>Mar</c:v>
                  </c:pt>
                  <c:pt idx="2">
                    <c:v>Mer</c:v>
                  </c:pt>
                  <c:pt idx="3">
                    <c:v>Gio</c:v>
                  </c:pt>
                  <c:pt idx="4">
                    <c:v>Ven</c:v>
                  </c:pt>
                  <c:pt idx="5">
                    <c:v>Sab</c:v>
                  </c:pt>
                  <c:pt idx="6">
                    <c:v>Dom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32906</c:v>
                </c:pt>
                <c:pt idx="1">
                  <c:v>34008</c:v>
                </c:pt>
                <c:pt idx="2">
                  <c:v>34422</c:v>
                </c:pt>
                <c:pt idx="3">
                  <c:v>35022</c:v>
                </c:pt>
                <c:pt idx="4">
                  <c:v>37257</c:v>
                </c:pt>
                <c:pt idx="5">
                  <c:v>36452</c:v>
                </c:pt>
                <c:pt idx="6">
                  <c:v>30381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1F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1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2E5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Utenti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F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Stesso giorno</c:v>
                  </c:pt>
                  <c:pt idx="1">
                    <c:v>1-7 giorni</c:v>
                  </c:pt>
                  <c:pt idx="2">
                    <c:v>8-30 giorni</c:v>
                  </c:pt>
                  <c:pt idx="3">
                    <c:v>31-60 giorni</c:v>
                  </c:pt>
                  <c:pt idx="4">
                    <c:v>61-90 giorni</c:v>
                  </c:pt>
                  <c:pt idx="5">
                    <c:v>90+ giorni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24407</c:v>
                </c:pt>
                <c:pt idx="1">
                  <c:v>12353</c:v>
                </c:pt>
                <c:pt idx="2">
                  <c:v>5957</c:v>
                </c:pt>
                <c:pt idx="3">
                  <c:v>1935</c:v>
                </c:pt>
                <c:pt idx="4">
                  <c:v>779</c:v>
                </c:pt>
                <c:pt idx="5">
                  <c:v>396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F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1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5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1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Canali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A623"/>
              </a:solidFill>
              <a:effectLst/>
            </c:spPr>
          </c:dPt>
          <c:dPt>
            <c:idx val="1"/>
            <c:bubble3D val="0"/>
            <c:spPr>
              <a:solidFill>
                <a:srgbClr val="0ABFBC"/>
              </a:solidFill>
              <a:effectLst/>
            </c:spPr>
          </c:dPt>
          <c:dPt>
            <c:idx val="2"/>
            <c:bubble3D val="0"/>
            <c:spPr>
              <a:solidFill>
                <a:srgbClr val="8E44A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A1F36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A1F36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A1F36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Native Messaging</c:v>
                </c:pt>
                <c:pt idx="1">
                  <c:v>Email</c:v>
                </c:pt>
                <c:pt idx="2">
                  <c:v>Web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221517</c:v>
                </c:pt>
                <c:pt idx="1">
                  <c:v>14633</c:v>
                </c:pt>
                <c:pt idx="2">
                  <c:v>4297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A617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Ticket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F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ABFB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E44A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498D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Soporte/Escalación</c:v>
                  </c:pt>
                  <c:pt idx="1">
                    <c:v>Depósito no acreditado</c:v>
                  </c:pt>
                  <c:pt idx="2">
                    <c:v>Verificación KYC</c:v>
                  </c:pt>
                  <c:pt idx="3">
                    <c:v>Bonos y promos</c:v>
                  </c:pt>
                  <c:pt idx="4">
                    <c:v>Recarga/Comprobante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21434</c:v>
                </c:pt>
                <c:pt idx="1">
                  <c:v>14549</c:v>
                </c:pt>
                <c:pt idx="2">
                  <c:v>8751</c:v>
                </c:pt>
                <c:pt idx="3">
                  <c:v>6586</c:v>
                </c:pt>
                <c:pt idx="4">
                  <c:v>4855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F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1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5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spc="800" kern="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BETONWIN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Analisi Dettagliata Utenti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Ottobre 2025 — Febbraio 2026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240,448 ticket  |  109,475 utenti unici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548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109,475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675120" y="1051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B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UTENTI UNICI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675120" y="1645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2.20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675120" y="2148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B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TICKET/UTENTE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675120" y="2743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41.9%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675120" y="3246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B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RITORNANO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675120" y="3840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6.8 gg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675120" y="4343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B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MEDIO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Segmentazione Utenti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82880" y="822960"/>
          <a:ext cx="41148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0" y="914400"/>
            <a:ext cx="42976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0" y="914400"/>
            <a:ext cx="54864" cy="4389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Shape 4"/>
          <p:cNvSpPr/>
          <p:nvPr/>
        </p:nvSpPr>
        <p:spPr>
          <a:xfrm>
            <a:off x="6858000" y="1024128"/>
            <a:ext cx="2286000" cy="219456"/>
          </a:xfrm>
          <a:prstGeom prst="rect">
            <a:avLst/>
          </a:prstGeom>
          <a:solidFill>
            <a:srgbClr val="F5A623">
              <a:alpha val="7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754880" y="91440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ticket (One-time)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29600" y="914400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58.1%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0" y="1463040"/>
            <a:ext cx="42976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1463040"/>
            <a:ext cx="54864" cy="438912"/>
          </a:xfrm>
          <a:prstGeom prst="rect">
            <a:avLst/>
          </a:prstGeom>
          <a:solidFill>
            <a:srgbClr val="0ABFBC"/>
          </a:solidFill>
          <a:ln/>
        </p:spPr>
      </p:sp>
      <p:sp>
        <p:nvSpPr>
          <p:cNvPr id="12" name="Shape 9"/>
          <p:cNvSpPr/>
          <p:nvPr/>
        </p:nvSpPr>
        <p:spPr>
          <a:xfrm>
            <a:off x="6858000" y="1572768"/>
            <a:ext cx="1078997" cy="219456"/>
          </a:xfrm>
          <a:prstGeom prst="rect">
            <a:avLst/>
          </a:prstGeom>
          <a:solidFill>
            <a:srgbClr val="0ABFBC">
              <a:alpha val="7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4754880" y="146304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ticket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229600" y="1463040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BFB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27.4%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0" y="2011680"/>
            <a:ext cx="42976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0" y="2011680"/>
            <a:ext cx="54864" cy="438912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7" name="Shape 14"/>
          <p:cNvSpPr/>
          <p:nvPr/>
        </p:nvSpPr>
        <p:spPr>
          <a:xfrm>
            <a:off x="6858000" y="2121408"/>
            <a:ext cx="308054" cy="219456"/>
          </a:xfrm>
          <a:prstGeom prst="rect">
            <a:avLst/>
          </a:prstGeom>
          <a:solidFill>
            <a:srgbClr val="8E44AD">
              <a:alpha val="7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4754880" y="201168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4-5 ticket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229600" y="2011680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E44A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7.8%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0" y="2560320"/>
            <a:ext cx="42976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72000" y="2560320"/>
            <a:ext cx="54864" cy="43891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2" name="Shape 19"/>
          <p:cNvSpPr/>
          <p:nvPr/>
        </p:nvSpPr>
        <p:spPr>
          <a:xfrm>
            <a:off x="6858000" y="2670048"/>
            <a:ext cx="194092" cy="219456"/>
          </a:xfrm>
          <a:prstGeom prst="rect">
            <a:avLst/>
          </a:prstGeom>
          <a:solidFill>
            <a:srgbClr val="3498DB">
              <a:alpha val="7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4754880" y="256032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6-10 ticket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229600" y="2560320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98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4.9%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0" y="3108960"/>
            <a:ext cx="42976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572000" y="3108960"/>
            <a:ext cx="54864" cy="43891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7" name="Shape 24"/>
          <p:cNvSpPr/>
          <p:nvPr/>
        </p:nvSpPr>
        <p:spPr>
          <a:xfrm>
            <a:off x="6858000" y="3218688"/>
            <a:ext cx="52977" cy="219456"/>
          </a:xfrm>
          <a:prstGeom prst="rect">
            <a:avLst/>
          </a:prstGeom>
          <a:solidFill>
            <a:srgbClr val="27AE60">
              <a:alpha val="70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4754880" y="31089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11-20 ticket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8229600" y="3108960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1.3%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0" y="3657600"/>
            <a:ext cx="42976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572000" y="3657600"/>
            <a:ext cx="54864" cy="43891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2" name="Shape 29"/>
          <p:cNvSpPr/>
          <p:nvPr/>
        </p:nvSpPr>
        <p:spPr>
          <a:xfrm>
            <a:off x="6858000" y="3767328"/>
            <a:ext cx="11385" cy="219456"/>
          </a:xfrm>
          <a:prstGeom prst="rect">
            <a:avLst/>
          </a:prstGeom>
          <a:solidFill>
            <a:srgbClr val="F39C12">
              <a:alpha val="70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4754880" y="365760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21-50 ticket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8229600" y="3657600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0.3%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0" y="4206240"/>
            <a:ext cx="42976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4572000" y="4206240"/>
            <a:ext cx="54864" cy="43891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7" name="Shape 34"/>
          <p:cNvSpPr/>
          <p:nvPr/>
        </p:nvSpPr>
        <p:spPr>
          <a:xfrm>
            <a:off x="6858000" y="4315968"/>
            <a:ext cx="431" cy="219456"/>
          </a:xfrm>
          <a:prstGeom prst="rect">
            <a:avLst/>
          </a:prstGeom>
          <a:solidFill>
            <a:srgbClr val="E74C3C">
              <a:alpha val="70000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4754880" y="420624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ticket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8229600" y="4206240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0.01%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41" name="Text 38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58.1% scrive solo 1 volta — il 41.9% (45,827 utenti) ritorna almeno una volta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Utenti Attivi Mensili (MAU) &amp; Crescita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22960"/>
          <a:ext cx="5029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669280" y="868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MAU Growth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669280" y="1280160"/>
            <a:ext cx="31089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806440" y="12801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858000" y="12801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4,666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863840" y="128016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B92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0" y="1783080"/>
            <a:ext cx="31089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806440" y="17830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25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858000" y="17830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12,489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863840" y="178308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+168%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669280" y="2286000"/>
            <a:ext cx="31089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806440" y="22860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25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858000" y="22860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19,119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863840" y="228600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+53%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669280" y="2788920"/>
            <a:ext cx="31089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806440" y="27889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26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858000" y="27889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32,832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863840" y="278892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+72%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669280" y="3291840"/>
            <a:ext cx="31089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806440" y="32918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26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858000" y="32918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48,736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863840" y="32918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+48%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669280" y="3840480"/>
            <a:ext cx="3108960" cy="5486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7" name="Text 24"/>
          <p:cNvSpPr/>
          <p:nvPr/>
        </p:nvSpPr>
        <p:spPr>
          <a:xfrm>
            <a:off x="5669280" y="38404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Retention: 7.8%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(Feb 2026)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9" name="Text 26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Crescita MAU 10x in 5 mesi (4,666 → 48,736)  |  90%+ utenti nuovi ogni mese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Quando Scrivono gli Utenti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Distribuzione Oraria (UTC)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85953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017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Distribuzione Settimanale</a:t>
            </a:r>
            <a:endParaRPr lang="en-US" sz="14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274320" y="3291840"/>
          <a:ext cx="457200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212080" y="3291840"/>
            <a:ext cx="3657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212080" y="3291840"/>
            <a:ext cx="54864" cy="5029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6"/>
          <p:cNvSpPr/>
          <p:nvPr/>
        </p:nvSpPr>
        <p:spPr>
          <a:xfrm>
            <a:off x="5394960" y="32918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Picco: 18-20h UTC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949440" y="3291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14,025 ticket alle 19:00 UTC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(~16:00 ora LATAM)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5212080" y="3886200"/>
            <a:ext cx="3657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212080" y="3886200"/>
            <a:ext cx="54864" cy="502920"/>
          </a:xfrm>
          <a:prstGeom prst="rect">
            <a:avLst/>
          </a:prstGeom>
          <a:solidFill>
            <a:srgbClr val="0ABFBC"/>
          </a:solidFill>
          <a:ln/>
        </p:spPr>
      </p:sp>
      <p:sp>
        <p:nvSpPr>
          <p:cNvPr id="14" name="Text 10"/>
          <p:cNvSpPr/>
          <p:nvPr/>
        </p:nvSpPr>
        <p:spPr>
          <a:xfrm>
            <a:off x="5394960" y="38862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B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Minimo: 08-09h UTC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949440" y="38862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3,343 ticket alle 08:00 UTC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(~05:00 ora LATAM)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5212080" y="4480560"/>
            <a:ext cx="3657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212080" y="4480560"/>
            <a:ext cx="54864" cy="50292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8" name="Text 14"/>
          <p:cNvSpPr/>
          <p:nvPr/>
        </p:nvSpPr>
        <p:spPr>
          <a:xfrm>
            <a:off x="5394960" y="44805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Weekend: +15%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949440" y="4480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Ven+Sab hanno il volume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alto della settimana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Lifecycle Utente &amp; Engagement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47548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303520" y="777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Metriche di Engagement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303520" y="1234440"/>
            <a:ext cx="35661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303520" y="1234440"/>
            <a:ext cx="54864" cy="4114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0" y="12344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medio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772400" y="12344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6.8 giorni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303520" y="1737360"/>
            <a:ext cx="35661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303520" y="1737360"/>
            <a:ext cx="54864" cy="4114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0" y="1737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53.3% risolvono in giornata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772400" y="17373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24,407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303520" y="2240280"/>
            <a:ext cx="35661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303520" y="2240280"/>
            <a:ext cx="54864" cy="411480"/>
          </a:xfrm>
          <a:prstGeom prst="rect">
            <a:avLst/>
          </a:prstGeom>
          <a:solidFill>
            <a:srgbClr val="0ABFBC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0" y="2240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80.3% risolvono in 7 gg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772400" y="22402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BFB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36,760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303520" y="2743200"/>
            <a:ext cx="35661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303520" y="2743200"/>
            <a:ext cx="54864" cy="4114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0" y="27432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2.6% oltre 60 gg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772400" y="27432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1,175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Messaggi Medi per Segmento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611880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011680"/>
                <a:gridCol w="2011680"/>
                <a:gridCol w="210312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Msg Utente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Msg Agente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Chars Medi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ticket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 ticket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4-10 ticket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11-50 ticket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15,590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50+ ticket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793.2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59,851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Canali &amp; Categorie Utenti Ricorrenti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82880" y="822960"/>
          <a:ext cx="38404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0" y="822960"/>
            <a:ext cx="1417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0" y="822960"/>
            <a:ext cx="141732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0" y="9601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92.1%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0" y="14173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Widget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0" y="17373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221,517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126480" y="822960"/>
            <a:ext cx="1417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26480" y="822960"/>
            <a:ext cx="1417320" cy="54864"/>
          </a:xfrm>
          <a:prstGeom prst="rect">
            <a:avLst/>
          </a:prstGeom>
          <a:solidFill>
            <a:srgbClr val="0ABFBC"/>
          </a:solidFill>
          <a:ln/>
        </p:spPr>
      </p:sp>
      <p:sp>
        <p:nvSpPr>
          <p:cNvPr id="12" name="Text 9"/>
          <p:cNvSpPr/>
          <p:nvPr/>
        </p:nvSpPr>
        <p:spPr>
          <a:xfrm>
            <a:off x="6126480" y="9601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BFB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6.1%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126480" y="14173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126480" y="17373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14,633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680960" y="822960"/>
            <a:ext cx="1417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680960" y="822960"/>
            <a:ext cx="1417320" cy="54864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7" name="Text 14"/>
          <p:cNvSpPr/>
          <p:nvPr/>
        </p:nvSpPr>
        <p:spPr>
          <a:xfrm>
            <a:off x="7680960" y="9601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E44A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1.8%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7680960" y="14173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Form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680960" y="17373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4,297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Categorie — Utenti Ricorrenti (&gt;5 ticket)</a:t>
            </a:r>
            <a:endParaRPr lang="en-US" sz="1400" dirty="0"/>
          </a:p>
        </p:txBody>
      </p:sp>
      <p:graphicFrame>
        <p:nvGraphicFramePr>
          <p:cNvPr id="21" name="Chart 1" descr=""/>
          <p:cNvGraphicFramePr/>
          <p:nvPr/>
        </p:nvGraphicFramePr>
        <p:xfrm>
          <a:off x="274320" y="3566160"/>
          <a:ext cx="859536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15 Utenti — Profilo Dettagliato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85800"/>
          <a:ext cx="859536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280160"/>
                <a:gridCol w="640080"/>
                <a:gridCol w="731520"/>
                <a:gridCol w="2926080"/>
                <a:gridCol w="73152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Msg Totali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 Principale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319856204...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A623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106</a:t>
                      </a:r>
                      <a:endParaRPr lang="en-US" sz="9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ABF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personales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311936654...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A623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80</a:t>
                      </a:r>
                      <a:endParaRPr lang="en-US" sz="9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ABF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Depósito no acreditado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322473630...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A623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72</a:t>
                      </a:r>
                      <a:endParaRPr lang="en-US" sz="9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ABF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Soporte/Escalación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311315609...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F36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71</a:t>
                      </a:r>
                      <a:endParaRPr lang="en-US" sz="9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ABF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Soporte/Escalación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283936749...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F36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67</a:t>
                      </a:r>
                      <a:endParaRPr lang="en-US" sz="9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ABF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1533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Soporte/Escalación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328564748...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F36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56</a:t>
                      </a:r>
                      <a:endParaRPr lang="en-US" sz="9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ABF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Soporte/Escalación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310601440...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F36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55</a:t>
                      </a:r>
                      <a:endParaRPr lang="en-US" sz="9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ABF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Soporte/Escalación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326756219...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F36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55</a:t>
                      </a:r>
                      <a:endParaRPr lang="en-US" sz="9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ABF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Soporte/Escalación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292146996...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F36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54</a:t>
                      </a:r>
                      <a:endParaRPr lang="en-US" sz="9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ABF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Bonos y promociones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315978364...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F36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54</a:t>
                      </a:r>
                      <a:endParaRPr lang="en-US" sz="9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ABF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Soporte/Escalación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321507827...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F36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54</a:t>
                      </a:r>
                      <a:endParaRPr lang="en-US" sz="9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ABF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Depósito no acreditado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324583951...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F36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53</a:t>
                      </a:r>
                      <a:endParaRPr lang="en-US" sz="9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ABF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Soporte/Escalación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316216057...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F36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50</a:t>
                      </a:r>
                      <a:endParaRPr lang="en-US" sz="9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ABF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Soporte/Escalación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324344725...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F36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50</a:t>
                      </a:r>
                      <a:endParaRPr lang="en-US" sz="9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ABF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Soporte/Escalación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329579245...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F36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50</a:t>
                      </a:r>
                      <a:endParaRPr lang="en-US" sz="9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ABF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Saludo simple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73% dei top user contatta per Soporte/Escalación — necessitano attenzione dedicata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 &amp; Raccomandazioni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7863840" cy="548640"/>
          </a:xfrm>
          <a:prstGeom prst="rect">
            <a:avLst/>
          </a:prstGeom>
          <a:solidFill>
            <a:srgbClr val="2D35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960120"/>
            <a:ext cx="54864" cy="5486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9601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Crescita Esplosiva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96012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 10x in 5 mesi — da 4,666 (Oct) a 48,736 (Feb). Il 90%+ sono utenti nuovi ogni mese.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618488"/>
            <a:ext cx="7863840" cy="548640"/>
          </a:xfrm>
          <a:prstGeom prst="rect">
            <a:avLst/>
          </a:prstGeom>
          <a:solidFill>
            <a:srgbClr val="2D35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618488"/>
            <a:ext cx="54864" cy="548640"/>
          </a:xfrm>
          <a:prstGeom prst="rect">
            <a:avLst/>
          </a:prstGeom>
          <a:solidFill>
            <a:srgbClr val="0ABFB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61848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B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 One-Time Users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08960" y="1618488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maggioranza scrive solo 1 volta. Focus su first-contact resolution e AI automation per rispondere subito.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276856"/>
            <a:ext cx="7863840" cy="548640"/>
          </a:xfrm>
          <a:prstGeom prst="rect">
            <a:avLst/>
          </a:prstGeom>
          <a:solidFill>
            <a:srgbClr val="2D35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276856"/>
            <a:ext cx="54864" cy="54864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27685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Bassa (7.8%)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08960" y="2276856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il 7.8% ritorna il mese successivo. Opportunità per CRM/follow-up proattivo sui casi non risolti.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935224"/>
            <a:ext cx="7863840" cy="548640"/>
          </a:xfrm>
          <a:prstGeom prst="rect">
            <a:avLst/>
          </a:prstGeom>
          <a:solidFill>
            <a:srgbClr val="2D35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2935224"/>
            <a:ext cx="54864" cy="54864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293522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User = Soporte/Escalación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08960" y="2935224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dei power user (50+ ticket) contattano per escalation. Necessario un team dedicato VIP o fast-track.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593592"/>
            <a:ext cx="7863840" cy="548640"/>
          </a:xfrm>
          <a:prstGeom prst="rect">
            <a:avLst/>
          </a:prstGeom>
          <a:solidFill>
            <a:srgbClr val="2D35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593592"/>
            <a:ext cx="54864" cy="5486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359359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Picco 18-20h UTC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108960" y="3593592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volume è massimo in serata LATAM. Garantire copertura agenti e AI attivo in questa fascia.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4251960"/>
            <a:ext cx="7863840" cy="548640"/>
          </a:xfrm>
          <a:prstGeom prst="rect">
            <a:avLst/>
          </a:prstGeom>
          <a:solidFill>
            <a:srgbClr val="2D35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4251960"/>
            <a:ext cx="54864" cy="5486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4251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= Volume Alto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108960" y="425196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Ven+Sab hanno il 30.7% del volume settimanale. Il supporto weekend deve essere rafforzato.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663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BetonWin User Analytics  |  Marzo 2026  |  109,475 Utenti Analizzati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BetonWin - Analisi Dettagliata Utenti (Oct 2025 - Feb 2026)</dc:title>
  <dc:subject>PptxGenJS Presentation</dc:subject>
  <dc:creator>BetonWin Analytics</dc:creator>
  <cp:lastModifiedBy>BetonWin Analytics</cp:lastModifiedBy>
  <cp:revision>1</cp:revision>
  <dcterms:created xsi:type="dcterms:W3CDTF">2026-03-20T10:01:23Z</dcterms:created>
  <dcterms:modified xsi:type="dcterms:W3CDTF">2026-03-20T10:01:23Z</dcterms:modified>
</cp:coreProperties>
</file>