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BetonWin AI Support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5CD9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 Performance Report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March 28 — April 1, 2026  |  4-Day Analysis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2286000" cy="45720"/>
          </a:xfrm>
          <a:prstGeom prst="roundRect">
            <a:avLst/>
          </a:prstGeom>
          <a:solidFill>
            <a:srgbClr val="45CD9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Specialized AI Agents  •  n8n Backend  •  Zendesk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371600" cy="36576"/>
          </a:xfrm>
          <a:prstGeom prst="roundRect">
            <a:avLst/>
          </a:prstGeom>
          <a:solidFill>
            <a:srgbClr val="45CD9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0A3D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5CD9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137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Total Messages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88920" y="128016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0A3D4A"/>
          </a:solidFill>
          <a:ln/>
        </p:spPr>
      </p:sp>
      <p:sp>
        <p:nvSpPr>
          <p:cNvPr id="8" name="Text 6"/>
          <p:cNvSpPr/>
          <p:nvPr/>
        </p:nvSpPr>
        <p:spPr>
          <a:xfrm>
            <a:off x="2788920" y="1371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5CD9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78892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Unique Sessions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28016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0A3D4A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371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5CD9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84632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Error Rate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128016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0A3D4A"/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1371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494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90372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Escalations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383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CD9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 System 100% stable — zero execution errors in 137 requests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749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57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 Escalation to human agent NOT working — 5 attempts, 0 successful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114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57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 Knowledge Base used in only 18% of queries — AI relies on training data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480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494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🔴  Zero live agent escalations in 4 days — critical feature gap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Volume &amp; Activity Pattern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371600" cy="36576"/>
          </a:xfrm>
          <a:prstGeom prst="roundRect">
            <a:avLst/>
          </a:prstGeom>
          <a:solidFill>
            <a:srgbClr val="45CD9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Daily Message Volume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2026-03-29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77440" y="1719072"/>
            <a:ext cx="2468880" cy="228600"/>
          </a:xfrm>
          <a:prstGeom prst="roundRect">
            <a:avLst>
              <a:gd name="adj" fmla="val 12000"/>
            </a:avLst>
          </a:prstGeom>
          <a:solidFill>
            <a:srgbClr val="45CD98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645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2026-03-30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2221992"/>
            <a:ext cx="274320" cy="228600"/>
          </a:xfrm>
          <a:prstGeom prst="roundRect">
            <a:avLst>
              <a:gd name="adj" fmla="val 12000"/>
            </a:avLst>
          </a:prstGeom>
          <a:solidFill>
            <a:srgbClr val="45CD98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2148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2026-03-31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77440" y="2724912"/>
            <a:ext cx="3520440" cy="228600"/>
          </a:xfrm>
          <a:prstGeom prst="roundRect">
            <a:avLst>
              <a:gd name="adj" fmla="val 12000"/>
            </a:avLst>
          </a:prstGeom>
          <a:solidFill>
            <a:srgbClr val="45CD98"/>
          </a:solidFill>
          <a:ln/>
        </p:spPr>
      </p:sp>
      <p:sp>
        <p:nvSpPr>
          <p:cNvPr id="13" name="Text 11"/>
          <p:cNvSpPr/>
          <p:nvPr/>
        </p:nvSpPr>
        <p:spPr>
          <a:xfrm>
            <a:off x="5989320" y="2651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Hourly Distribution (UTC)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1645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7:00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60720" y="1691640"/>
            <a:ext cx="1371600" cy="182880"/>
          </a:xfrm>
          <a:prstGeom prst="roundRect">
            <a:avLst>
              <a:gd name="adj" fmla="val 10000"/>
            </a:avLst>
          </a:prstGeom>
          <a:solidFill>
            <a:srgbClr val="0A3D4A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1645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1920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8:00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760720" y="1965960"/>
            <a:ext cx="152400" cy="182880"/>
          </a:xfrm>
          <a:prstGeom prst="roundRect">
            <a:avLst>
              <a:gd name="adj" fmla="val 12000"/>
            </a:avLst>
          </a:prstGeom>
          <a:solidFill>
            <a:srgbClr val="0A3D4A"/>
          </a:solidFill>
          <a:ln/>
        </p:spPr>
      </p:sp>
      <p:sp>
        <p:nvSpPr>
          <p:cNvPr id="20" name="Text 18"/>
          <p:cNvSpPr/>
          <p:nvPr/>
        </p:nvSpPr>
        <p:spPr>
          <a:xfrm>
            <a:off x="6004560" y="1920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0" y="2194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11:00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60720" y="2240280"/>
            <a:ext cx="2438400" cy="182880"/>
          </a:xfrm>
          <a:prstGeom prst="roundRect">
            <a:avLst>
              <a:gd name="adj" fmla="val 10000"/>
            </a:avLst>
          </a:prstGeom>
          <a:solidFill>
            <a:srgbClr val="45CD98"/>
          </a:solidFill>
          <a:ln/>
        </p:spPr>
      </p:sp>
      <p:sp>
        <p:nvSpPr>
          <p:cNvPr id="23" name="Text 21"/>
          <p:cNvSpPr/>
          <p:nvPr/>
        </p:nvSpPr>
        <p:spPr>
          <a:xfrm>
            <a:off x="8290560" y="21945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0" y="2468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12:00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60720" y="2514600"/>
            <a:ext cx="1676400" cy="182880"/>
          </a:xfrm>
          <a:prstGeom prst="roundRect">
            <a:avLst>
              <a:gd name="adj" fmla="val 10000"/>
            </a:avLst>
          </a:prstGeom>
          <a:solidFill>
            <a:srgbClr val="0A3D4A"/>
          </a:solidFill>
          <a:ln/>
        </p:spPr>
      </p:sp>
      <p:sp>
        <p:nvSpPr>
          <p:cNvPr id="26" name="Text 24"/>
          <p:cNvSpPr/>
          <p:nvPr/>
        </p:nvSpPr>
        <p:spPr>
          <a:xfrm>
            <a:off x="7528560" y="2468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0" y="2743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15:00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60720" y="2788920"/>
            <a:ext cx="2743200" cy="182880"/>
          </a:xfrm>
          <a:prstGeom prst="roundRect">
            <a:avLst>
              <a:gd name="adj" fmla="val 10000"/>
            </a:avLst>
          </a:prstGeom>
          <a:solidFill>
            <a:srgbClr val="45CD98"/>
          </a:solidFill>
          <a:ln/>
        </p:spPr>
      </p:sp>
      <p:sp>
        <p:nvSpPr>
          <p:cNvPr id="29" name="Text 27"/>
          <p:cNvSpPr/>
          <p:nvPr/>
        </p:nvSpPr>
        <p:spPr>
          <a:xfrm>
            <a:off x="8595360" y="2743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0" y="3017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16:00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760720" y="3063240"/>
            <a:ext cx="1676400" cy="182880"/>
          </a:xfrm>
          <a:prstGeom prst="roundRect">
            <a:avLst>
              <a:gd name="adj" fmla="val 10000"/>
            </a:avLst>
          </a:prstGeom>
          <a:solidFill>
            <a:srgbClr val="0A3D4A"/>
          </a:solidFill>
          <a:ln/>
        </p:spPr>
      </p:sp>
      <p:sp>
        <p:nvSpPr>
          <p:cNvPr id="32" name="Text 30"/>
          <p:cNvSpPr/>
          <p:nvPr/>
        </p:nvSpPr>
        <p:spPr>
          <a:xfrm>
            <a:off x="7528560" y="3017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0" y="32918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17:00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760720" y="3337560"/>
            <a:ext cx="1676400" cy="182880"/>
          </a:xfrm>
          <a:prstGeom prst="roundRect">
            <a:avLst>
              <a:gd name="adj" fmla="val 10000"/>
            </a:avLst>
          </a:prstGeom>
          <a:solidFill>
            <a:srgbClr val="0A3D4A"/>
          </a:solidFill>
          <a:ln/>
        </p:spPr>
      </p:sp>
      <p:sp>
        <p:nvSpPr>
          <p:cNvPr id="35" name="Text 33"/>
          <p:cNvSpPr/>
          <p:nvPr/>
        </p:nvSpPr>
        <p:spPr>
          <a:xfrm>
            <a:off x="7528560" y="3291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29200" y="3566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18:00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760720" y="3611880"/>
            <a:ext cx="762000" cy="182880"/>
          </a:xfrm>
          <a:prstGeom prst="roundRect">
            <a:avLst>
              <a:gd name="adj" fmla="val 10000"/>
            </a:avLst>
          </a:prstGeom>
          <a:solidFill>
            <a:srgbClr val="0A3D4A"/>
          </a:solidFill>
          <a:ln/>
        </p:spPr>
      </p:sp>
      <p:sp>
        <p:nvSpPr>
          <p:cNvPr id="38" name="Text 36"/>
          <p:cNvSpPr/>
          <p:nvPr/>
        </p:nvSpPr>
        <p:spPr>
          <a:xfrm>
            <a:off x="6614160" y="3566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0" y="3840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19:00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760720" y="3886200"/>
            <a:ext cx="1066800" cy="182880"/>
          </a:xfrm>
          <a:prstGeom prst="roundRect">
            <a:avLst>
              <a:gd name="adj" fmla="val 10000"/>
            </a:avLst>
          </a:prstGeom>
          <a:solidFill>
            <a:srgbClr val="0A3D4A"/>
          </a:solidFill>
          <a:ln/>
        </p:spPr>
      </p:sp>
      <p:sp>
        <p:nvSpPr>
          <p:cNvPr id="41" name="Text 39"/>
          <p:cNvSpPr/>
          <p:nvPr/>
        </p:nvSpPr>
        <p:spPr>
          <a:xfrm>
            <a:off x="6918960" y="3840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29200" y="4114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20:00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760720" y="4160520"/>
            <a:ext cx="304800" cy="182880"/>
          </a:xfrm>
          <a:prstGeom prst="roundRect">
            <a:avLst>
              <a:gd name="adj" fmla="val 10000"/>
            </a:avLst>
          </a:prstGeom>
          <a:solidFill>
            <a:srgbClr val="0A3D4A"/>
          </a:solidFill>
          <a:ln/>
        </p:spPr>
      </p:sp>
      <p:sp>
        <p:nvSpPr>
          <p:cNvPr id="44" name="Text 42"/>
          <p:cNvSpPr/>
          <p:nvPr/>
        </p:nvSpPr>
        <p:spPr>
          <a:xfrm>
            <a:off x="6156960" y="4114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029200" y="4389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21:00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760720" y="4434840"/>
            <a:ext cx="2590800" cy="182880"/>
          </a:xfrm>
          <a:prstGeom prst="roundRect">
            <a:avLst>
              <a:gd name="adj" fmla="val 10000"/>
            </a:avLst>
          </a:prstGeom>
          <a:solidFill>
            <a:srgbClr val="45CD98"/>
          </a:solidFill>
          <a:ln/>
        </p:spPr>
      </p:sp>
      <p:sp>
        <p:nvSpPr>
          <p:cNvPr id="47" name="Text 45"/>
          <p:cNvSpPr/>
          <p:nvPr/>
        </p:nvSpPr>
        <p:spPr>
          <a:xfrm>
            <a:off x="8442960" y="43891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17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0292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22:00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760720" y="4709160"/>
            <a:ext cx="2286000" cy="182880"/>
          </a:xfrm>
          <a:prstGeom prst="roundRect">
            <a:avLst>
              <a:gd name="adj" fmla="val 10000"/>
            </a:avLst>
          </a:prstGeom>
          <a:solidFill>
            <a:srgbClr val="0A3D4A"/>
          </a:solidFill>
          <a:ln/>
        </p:spPr>
      </p:sp>
      <p:sp>
        <p:nvSpPr>
          <p:cNvPr id="50" name="Text 48"/>
          <p:cNvSpPr/>
          <p:nvPr/>
        </p:nvSpPr>
        <p:spPr>
          <a:xfrm>
            <a:off x="813816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029200" y="4937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23:00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760720" y="4983480"/>
            <a:ext cx="1219200" cy="182880"/>
          </a:xfrm>
          <a:prstGeom prst="roundRect">
            <a:avLst>
              <a:gd name="adj" fmla="val 10000"/>
            </a:avLst>
          </a:prstGeom>
          <a:solidFill>
            <a:srgbClr val="0A3D4A"/>
          </a:solidFill>
          <a:ln/>
        </p:spPr>
      </p:sp>
      <p:sp>
        <p:nvSpPr>
          <p:cNvPr id="53" name="Text 51"/>
          <p:cNvSpPr/>
          <p:nvPr/>
        </p:nvSpPr>
        <p:spPr>
          <a:xfrm>
            <a:off x="7071360" y="49377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3152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Session Depth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3152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Average: 4.3 messages/session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3152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Longest session: 26 messages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3152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CD9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Deep conversations (6+ turns): 31%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Language &amp; Topic Distribution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371600" cy="36576"/>
          </a:xfrm>
          <a:prstGeom prst="roundRect">
            <a:avLst/>
          </a:prstGeom>
          <a:solidFill>
            <a:srgbClr val="45CD9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Languages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Spanish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03120" y="1691640"/>
            <a:ext cx="1499616" cy="228600"/>
          </a:xfrm>
          <a:prstGeom prst="roundRect">
            <a:avLst>
              <a:gd name="adj" fmla="val 12000"/>
            </a:avLst>
          </a:prstGeom>
          <a:solidFill>
            <a:srgbClr val="45CD98"/>
          </a:solidFill>
          <a:ln/>
        </p:spPr>
      </p:sp>
      <p:sp>
        <p:nvSpPr>
          <p:cNvPr id="7" name="Text 5"/>
          <p:cNvSpPr/>
          <p:nvPr/>
        </p:nvSpPr>
        <p:spPr>
          <a:xfrm>
            <a:off x="3694176" y="16459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82%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Italian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03120" y="2148840"/>
            <a:ext cx="274320" cy="228600"/>
          </a:xfrm>
          <a:prstGeom prst="roundRect">
            <a:avLst>
              <a:gd name="adj" fmla="val 12000"/>
            </a:avLst>
          </a:prstGeom>
          <a:solidFill>
            <a:srgbClr val="45CD98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21031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English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03120" y="2606040"/>
            <a:ext cx="36576" cy="228600"/>
          </a:xfrm>
          <a:prstGeom prst="roundRect">
            <a:avLst>
              <a:gd name="adj" fmla="val 75000"/>
            </a:avLst>
          </a:prstGeom>
          <a:solidFill>
            <a:srgbClr val="45CD98"/>
          </a:solidFill>
          <a:ln/>
        </p:spPr>
      </p:sp>
      <p:sp>
        <p:nvSpPr>
          <p:cNvPr id="13" name="Text 11"/>
          <p:cNvSpPr/>
          <p:nvPr/>
        </p:nvSpPr>
        <p:spPr>
          <a:xfrm>
            <a:off x="2231136" y="25603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017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Portuguese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03120" y="3063240"/>
            <a:ext cx="18288" cy="228600"/>
          </a:xfrm>
          <a:prstGeom prst="roundRect">
            <a:avLst>
              <a:gd name="adj" fmla="val 150000"/>
            </a:avLst>
          </a:prstGeom>
          <a:solidFill>
            <a:srgbClr val="45CD98"/>
          </a:solidFill>
          <a:ln/>
        </p:spPr>
      </p:sp>
      <p:sp>
        <p:nvSpPr>
          <p:cNvPr id="16" name="Text 14"/>
          <p:cNvSpPr/>
          <p:nvPr/>
        </p:nvSpPr>
        <p:spPr>
          <a:xfrm>
            <a:off x="2212848" y="3017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Topic Breakdown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General/Follow-up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83680" y="1682496"/>
            <a:ext cx="1783080" cy="201168"/>
          </a:xfrm>
          <a:prstGeom prst="roundRect">
            <a:avLst>
              <a:gd name="adj" fmla="val 9091"/>
            </a:avLst>
          </a:prstGeom>
          <a:solidFill>
            <a:srgbClr val="7A9AA8"/>
          </a:solidFill>
          <a:ln/>
        </p:spPr>
      </p:sp>
      <p:sp>
        <p:nvSpPr>
          <p:cNvPr id="20" name="Text 18"/>
          <p:cNvSpPr/>
          <p:nvPr/>
        </p:nvSpPr>
        <p:spPr>
          <a:xfrm>
            <a:off x="8439912" y="1645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39%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Greetings/Tests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583680" y="2048256"/>
            <a:ext cx="1005840" cy="201168"/>
          </a:xfrm>
          <a:prstGeom prst="roundRect">
            <a:avLst>
              <a:gd name="adj" fmla="val 9091"/>
            </a:avLst>
          </a:prstGeom>
          <a:solidFill>
            <a:srgbClr val="7A9AA8"/>
          </a:solidFill>
          <a:ln/>
        </p:spPr>
      </p:sp>
      <p:sp>
        <p:nvSpPr>
          <p:cNvPr id="23" name="Text 21"/>
          <p:cNvSpPr/>
          <p:nvPr/>
        </p:nvSpPr>
        <p:spPr>
          <a:xfrm>
            <a:off x="7662672" y="2011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22%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Deposits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83680" y="2414016"/>
            <a:ext cx="640080" cy="201168"/>
          </a:xfrm>
          <a:prstGeom prst="roundRect">
            <a:avLst>
              <a:gd name="adj" fmla="val 9091"/>
            </a:avLst>
          </a:prstGeom>
          <a:solidFill>
            <a:srgbClr val="45CD98"/>
          </a:solidFill>
          <a:ln/>
        </p:spPr>
      </p:sp>
      <p:sp>
        <p:nvSpPr>
          <p:cNvPr id="26" name="Text 24"/>
          <p:cNvSpPr/>
          <p:nvPr/>
        </p:nvSpPr>
        <p:spPr>
          <a:xfrm>
            <a:off x="7296912" y="2377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2743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Account/Closure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583680" y="2779776"/>
            <a:ext cx="411480" cy="201168"/>
          </a:xfrm>
          <a:prstGeom prst="roundRect">
            <a:avLst>
              <a:gd name="adj" fmla="val 9091"/>
            </a:avLst>
          </a:prstGeom>
          <a:solidFill>
            <a:srgbClr val="FFC572"/>
          </a:solidFill>
          <a:ln/>
        </p:spPr>
      </p:sp>
      <p:sp>
        <p:nvSpPr>
          <p:cNvPr id="29" name="Text 27"/>
          <p:cNvSpPr/>
          <p:nvPr/>
        </p:nvSpPr>
        <p:spPr>
          <a:xfrm>
            <a:off x="7068312" y="2743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Withdrawals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583680" y="3145536"/>
            <a:ext cx="411480" cy="201168"/>
          </a:xfrm>
          <a:prstGeom prst="roundRect">
            <a:avLst>
              <a:gd name="adj" fmla="val 9091"/>
            </a:avLst>
          </a:prstGeom>
          <a:solidFill>
            <a:srgbClr val="FFC572"/>
          </a:solidFill>
          <a:ln/>
        </p:spPr>
      </p:sp>
      <p:sp>
        <p:nvSpPr>
          <p:cNvPr id="32" name="Text 30"/>
          <p:cNvSpPr/>
          <p:nvPr/>
        </p:nvSpPr>
        <p:spPr>
          <a:xfrm>
            <a:off x="7068312" y="3108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3474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Sports Betting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583680" y="3511296"/>
            <a:ext cx="137160" cy="201168"/>
          </a:xfrm>
          <a:prstGeom prst="roundRect">
            <a:avLst>
              <a:gd name="adj" fmla="val 13333"/>
            </a:avLst>
          </a:prstGeom>
          <a:solidFill>
            <a:srgbClr val="7A9AA8"/>
          </a:solidFill>
          <a:ln/>
        </p:spPr>
      </p:sp>
      <p:sp>
        <p:nvSpPr>
          <p:cNvPr id="35" name="Text 33"/>
          <p:cNvSpPr/>
          <p:nvPr/>
        </p:nvSpPr>
        <p:spPr>
          <a:xfrm>
            <a:off x="6793992" y="3474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Casino/Slots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583680" y="3877056"/>
            <a:ext cx="137160" cy="201168"/>
          </a:xfrm>
          <a:prstGeom prst="roundRect">
            <a:avLst>
              <a:gd name="adj" fmla="val 13333"/>
            </a:avLst>
          </a:prstGeom>
          <a:solidFill>
            <a:srgbClr val="7A9AA8"/>
          </a:solidFill>
          <a:ln/>
        </p:spPr>
      </p:sp>
      <p:sp>
        <p:nvSpPr>
          <p:cNvPr id="38" name="Text 36"/>
          <p:cNvSpPr/>
          <p:nvPr/>
        </p:nvSpPr>
        <p:spPr>
          <a:xfrm>
            <a:off x="6793992" y="3840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5488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KYC/Verification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583680" y="4242816"/>
            <a:ext cx="45720" cy="201168"/>
          </a:xfrm>
          <a:prstGeom prst="roundRect">
            <a:avLst>
              <a:gd name="adj" fmla="val 40000"/>
            </a:avLst>
          </a:prstGeom>
          <a:solidFill>
            <a:srgbClr val="7A9AA8"/>
          </a:solidFill>
          <a:ln/>
        </p:spPr>
      </p:sp>
      <p:sp>
        <p:nvSpPr>
          <p:cNvPr id="41" name="Text 39"/>
          <p:cNvSpPr/>
          <p:nvPr/>
        </p:nvSpPr>
        <p:spPr>
          <a:xfrm>
            <a:off x="6702552" y="4206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1%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494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Critical Issues Found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371600" cy="36576"/>
          </a:xfrm>
          <a:prstGeom prst="roundRect">
            <a:avLst/>
          </a:prstGeom>
          <a:solidFill>
            <a:srgbClr val="F54943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7680960" cy="1371600"/>
          </a:xfrm>
          <a:prstGeom prst="roundRect">
            <a:avLst>
              <a:gd name="adj" fmla="val 6667"/>
            </a:avLst>
          </a:prstGeom>
          <a:solidFill>
            <a:srgbClr val="0A3D4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801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494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🔴  ISSUE #1: Escalation to Human Agent Not Working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user wrote "human" 4 times and "quiero hablar con un agente no con un bot"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but the bot NEVER escalated. It kept saying "let me try to help you first."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Root cause: The n8n AI agents do not produce the WANTS_HUMAN signal.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widget's humanRequestCount never reaches threshold (3).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Result: Users who need a human are stuck talking to the bot forever.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0A3D4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8346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57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🔴  ISSUE #2: Knowledge Base Hit Rate Only 18%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20040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82% of user queries had NO knowledge base context — the AI answered from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training data alone. This means FAQ content is not being utilized.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Likely causes: KB search timeout (3.5s), poor query matching, or missing FAQ entries.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402336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0A3D4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1148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57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 ISSUE #3: Sensitive Requests Not Escalated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44348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Account closure for gambling problems and fraud accusations ("es una estafa") handled by bot only — no human escalation triggered.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 Conversation Examples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371600" cy="36576"/>
          </a:xfrm>
          <a:prstGeom prst="roundRect">
            <a:avLst/>
          </a:prstGeom>
          <a:solidFill>
            <a:srgbClr val="45CD9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CD9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 Good Response — Deposit Process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0A3D4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002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5CD9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User: "¿Me pueden explicar paso a paso cómo hacer un depósito?"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Bot: Provided detailed step-by-step instructions with payment methods, minimum amounts, and processing times. Response: 450+ chars, well-structured.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494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🔴  Failed Response — Human Request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7680960" cy="1097280"/>
          </a:xfrm>
          <a:prstGeom prst="roundRect">
            <a:avLst>
              <a:gd name="adj" fmla="val 6667"/>
            </a:avLst>
          </a:prstGeom>
          <a:solidFill>
            <a:srgbClr val="0A3D4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0632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494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User: "quiero hablar con un agente no con un bot"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33832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Bot: "Comprendo tu preferencia. Aunque soy un bot, puedo responder muchas preguntas sobre BetonWin..."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37490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494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⛔ User explicitly requested human 5 times across the session. Bot never escalated.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297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57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 Sensitive — Gambling Problem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617720"/>
            <a:ext cx="3657600" cy="365760"/>
          </a:xfrm>
          <a:prstGeom prst="roundRect">
            <a:avLst>
              <a:gd name="adj" fmla="val 20000"/>
            </a:avLst>
          </a:prstGeom>
          <a:solidFill>
            <a:srgbClr val="0A3D4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663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C57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User: "Quiero cerrar mi cuenta porque tengo problemas con el juego"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4617720"/>
            <a:ext cx="3657600" cy="365760"/>
          </a:xfrm>
          <a:prstGeom prst="roundRect">
            <a:avLst>
              <a:gd name="adj" fmla="val 20000"/>
            </a:avLst>
          </a:prstGeom>
          <a:solidFill>
            <a:srgbClr val="0A3D4A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4663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Bot provided Gamblers Anonymous link + self-exclusion info. Good content but should escalate to human.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Knowledge Base Gap Analysis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371600" cy="36576"/>
          </a:xfrm>
          <a:prstGeom prst="roundRect">
            <a:avLst/>
          </a:prstGeom>
          <a:solidFill>
            <a:srgbClr val="45CD9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3200400" cy="1097280"/>
          </a:xfrm>
          <a:prstGeom prst="roundRect">
            <a:avLst>
              <a:gd name="adj" fmla="val 8333"/>
            </a:avLst>
          </a:prstGeom>
          <a:solidFill>
            <a:srgbClr val="0A3D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494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18%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 queries had KB context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06240" y="1188720"/>
            <a:ext cx="3200400" cy="1097280"/>
          </a:xfrm>
          <a:prstGeom prst="roundRect">
            <a:avLst>
              <a:gd name="adj" fmla="val 8333"/>
            </a:avLst>
          </a:prstGeom>
          <a:solidFill>
            <a:srgbClr val="0A3D4A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0" y="12344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C57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82%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206240" y="1783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answered without FAQ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Missing FAQ Entries (based on user queries)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Step-by-step deposit instructions for each payment method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1520" y="3337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Available payment methods with limits and processing times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3657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How slots/casino games work (RTP, volatility explained)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1520" y="3977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How to change interface language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31520" y="4297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Phone number verification process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0" y="3017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Account closure process and implications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0" y="3337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Self-exclusion and responsible gambling tools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0" y="3657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Sports betting: combined bets, live betting rules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0" y="3977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Why withdrawals get cancelled/delayed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4297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How to reopen a closed account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Recommendations &amp; Next Steps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371600" cy="36576"/>
          </a:xfrm>
          <a:prstGeom prst="roundRect">
            <a:avLst/>
          </a:prstGeom>
          <a:solidFill>
            <a:srgbClr val="45CD9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07008"/>
            <a:ext cx="411480" cy="274320"/>
          </a:xfrm>
          <a:prstGeom prst="roundRect">
            <a:avLst>
              <a:gd name="adj" fmla="val 16667"/>
            </a:avLst>
          </a:prstGeom>
          <a:solidFill>
            <a:srgbClr val="F5494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80160" y="1188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Fix escalation detection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Update n8n AI agents to produce WANTS_HUMAN action tag. Add widget-side keyword detection for "human", "agente", "operatore" as direct triggers.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82496"/>
            <a:ext cx="411480" cy="274320"/>
          </a:xfrm>
          <a:prstGeom prst="roundRect">
            <a:avLst>
              <a:gd name="adj" fmla="val 16667"/>
            </a:avLst>
          </a:prstGeom>
          <a:solidFill>
            <a:srgbClr val="F5494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6420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0" y="16642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Add gambling sensitivity escalation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166420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Auto-escalate to human when user mentions gambling addiction, self-exclusion, or account closure due to gambling problems. Required for regulatory compliance.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2157984"/>
            <a:ext cx="411480" cy="274320"/>
          </a:xfrm>
          <a:prstGeom prst="roundRect">
            <a:avLst>
              <a:gd name="adj" fmla="val 16667"/>
            </a:avLst>
          </a:prstGeom>
          <a:solidFill>
            <a:srgbClr val="FFC57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13969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80160" y="213969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Expand Knowledge Base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213969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Add 10+ missing FAQ entries identified from real user queries. Focus on deposits, payments, slot mechanics, and account management.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2633472"/>
            <a:ext cx="411480" cy="274320"/>
          </a:xfrm>
          <a:prstGeom prst="roundRect">
            <a:avLst>
              <a:gd name="adj" fmla="val 16667"/>
            </a:avLst>
          </a:prstGeom>
          <a:solidFill>
            <a:srgbClr val="FFC57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615184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80160" y="261518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Improve KB search performance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261518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Current 18% hit rate is too low. Consider: caching warm queries, increasing timeout to 5s, adding synonym matching.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3108960"/>
            <a:ext cx="411480" cy="274320"/>
          </a:xfrm>
          <a:prstGeom prst="roundRect">
            <a:avLst>
              <a:gd name="adj" fmla="val 16667"/>
            </a:avLst>
          </a:prstGeom>
          <a:solidFill>
            <a:srgbClr val="45CD98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09067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80160" y="30906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Add fraud/complaint detection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0" y="309067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Keywords like "estafa", "manipulado", "scam" should trigger immediate human escalation with high priority.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3584448"/>
            <a:ext cx="411480" cy="274320"/>
          </a:xfrm>
          <a:prstGeom prst="roundRect">
            <a:avLst>
              <a:gd name="adj" fmla="val 16667"/>
            </a:avLst>
          </a:prstGeom>
          <a:solidFill>
            <a:srgbClr val="45CD98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5661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8016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Connect deposit verification flow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0" y="35661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Enable the VERIFY endpoint so bot can check deposit status directly instead of saying "I don't have access."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" y="4059936"/>
            <a:ext cx="411480" cy="274320"/>
          </a:xfrm>
          <a:prstGeom prst="roundRect">
            <a:avLst>
              <a:gd name="adj" fmla="val 16667"/>
            </a:avLst>
          </a:prstGeom>
          <a:solidFill>
            <a:srgbClr val="7A9AA8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04164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280160" y="40416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Monitor conversation depth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0" y="404164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Sessions with 10+ messages may indicate user frustration. Consider auto-offering escalation after 8 turns.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520" y="4535424"/>
            <a:ext cx="411480" cy="274320"/>
          </a:xfrm>
          <a:prstGeom prst="roundRect">
            <a:avLst>
              <a:gd name="adj" fmla="val 16667"/>
            </a:avLst>
          </a:prstGeom>
          <a:solidFill>
            <a:srgbClr val="7A9AA8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51713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280160" y="451713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Add analytics tracking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0" y="451713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Implement event tracking (currently stubbed) to measure: response time, satisfaction, escalation rate, topic distribution.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Overall Assessment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371600" cy="36576"/>
          </a:xfrm>
          <a:prstGeom prst="roundRect">
            <a:avLst/>
          </a:prstGeom>
          <a:solidFill>
            <a:srgbClr val="45CD98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1371600"/>
            <a:ext cx="3657600" cy="1828800"/>
          </a:xfrm>
          <a:prstGeom prst="roundRect">
            <a:avLst>
              <a:gd name="adj" fmla="val 7500"/>
            </a:avLst>
          </a:prstGeom>
          <a:solidFill>
            <a:srgbClr val="0A3D4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0" y="1463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C57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7/10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7432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 Performance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Stable &amp; responsive, but escalation is broken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Stability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0" y="3383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CD9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10/10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33832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Zero errors in 137 executions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Response Quality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3703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CD9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8/10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3703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Detailed, helpful answers in most cases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Language Handling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40233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57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7/10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40233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Works for ES/IT, limited EN/PT testing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3152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Knowledge Base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4343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494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4/10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43434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18% hit rate — most queries unanswered by KB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Escalation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494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1/10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0" y="46634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Completely broken — zero successful escalations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31520" y="4983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60320" y="4983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57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5/10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74720" y="49834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A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Gambling problem requests not auto-escalated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QA Analysis Report</dc:subject>
  <dc:creator>BetonWin AI</dc:creator>
  <cp:lastModifiedBy>BetonWin AI</cp:lastModifiedBy>
  <cp:revision>1</cp:revision>
  <dcterms:created xsi:type="dcterms:W3CDTF">2026-04-01T06:37:18Z</dcterms:created>
  <dcterms:modified xsi:type="dcterms:W3CDTF">2026-04-01T06:37:18Z</dcterms:modified>
</cp:coreProperties>
</file>